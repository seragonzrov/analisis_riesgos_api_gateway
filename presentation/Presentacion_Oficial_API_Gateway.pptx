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548640"/>
            <a:ext cx="2377440" cy="320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548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THREAT MODELING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Riesgos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para Microservicios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2606040"/>
            <a:ext cx="411480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788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Lamolle  ·  Serafín González  ·  Fernando Rodríguez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de mayo de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731520"/>
            <a:ext cx="502920" cy="502920"/>
          </a:xfrm>
          <a:prstGeom prst="rect">
            <a:avLst/>
          </a:prstGeom>
          <a:solidFill>
            <a:srgbClr val="1E3A5F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1371600"/>
            <a:ext cx="502920" cy="502920"/>
          </a:xfrm>
          <a:prstGeom prst="rect">
            <a:avLst/>
          </a:prstGeom>
          <a:solidFill>
            <a:srgbClr val="1D4ED8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2011680"/>
            <a:ext cx="502920" cy="502920"/>
          </a:xfrm>
          <a:prstGeom prst="rect">
            <a:avLst/>
          </a:prstGeom>
          <a:solidFill>
            <a:srgbClr val="1E3A5F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2651760"/>
            <a:ext cx="502920" cy="502920"/>
          </a:xfrm>
          <a:prstGeom prst="rect">
            <a:avLst/>
          </a:prstGeom>
          <a:solidFill>
            <a:srgbClr val="0F172A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3291840"/>
            <a:ext cx="502920" cy="502920"/>
          </a:xfrm>
          <a:prstGeom prst="rect">
            <a:avLst/>
          </a:prstGeom>
          <a:solidFill>
            <a:srgbClr val="1D4ED8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3931920"/>
            <a:ext cx="502920" cy="502920"/>
          </a:xfrm>
          <a:prstGeom prst="rect">
            <a:avLst/>
          </a:prstGeom>
          <a:solidFill>
            <a:srgbClr val="0F172A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731520"/>
            <a:ext cx="502920" cy="502920"/>
          </a:xfrm>
          <a:prstGeom prst="rect">
            <a:avLst/>
          </a:prstGeom>
          <a:solidFill>
            <a:srgbClr val="1D4ED8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1371600"/>
            <a:ext cx="502920" cy="502920"/>
          </a:xfrm>
          <a:prstGeom prst="rect">
            <a:avLst/>
          </a:prstGeom>
          <a:solidFill>
            <a:srgbClr val="1E3A5F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2011680"/>
            <a:ext cx="502920" cy="502920"/>
          </a:xfrm>
          <a:prstGeom prst="rect">
            <a:avLst/>
          </a:prstGeom>
          <a:solidFill>
            <a:srgbClr val="0F172A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2651760"/>
            <a:ext cx="502920" cy="502920"/>
          </a:xfrm>
          <a:prstGeom prst="rect">
            <a:avLst/>
          </a:prstGeom>
          <a:solidFill>
            <a:srgbClr val="1D4ED8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3291840"/>
            <a:ext cx="502920" cy="502920"/>
          </a:xfrm>
          <a:prstGeom prst="rect">
            <a:avLst/>
          </a:prstGeom>
          <a:solidFill>
            <a:srgbClr val="0F172A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3931920"/>
            <a:ext cx="502920" cy="502920"/>
          </a:xfrm>
          <a:prstGeom prst="rect">
            <a:avLst/>
          </a:prstGeom>
          <a:solidFill>
            <a:srgbClr val="1E3A5F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731520"/>
            <a:ext cx="502920" cy="502920"/>
          </a:xfrm>
          <a:prstGeom prst="rect">
            <a:avLst/>
          </a:prstGeom>
          <a:solidFill>
            <a:srgbClr val="1E3A5F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1371600"/>
            <a:ext cx="502920" cy="502920"/>
          </a:xfrm>
          <a:prstGeom prst="rect">
            <a:avLst/>
          </a:prstGeom>
          <a:solidFill>
            <a:srgbClr val="0F172A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2011680"/>
            <a:ext cx="502920" cy="502920"/>
          </a:xfrm>
          <a:prstGeom prst="rect">
            <a:avLst/>
          </a:prstGeom>
          <a:solidFill>
            <a:srgbClr val="1D4ED8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2651760"/>
            <a:ext cx="502920" cy="502920"/>
          </a:xfrm>
          <a:prstGeom prst="rect">
            <a:avLst/>
          </a:prstGeom>
          <a:solidFill>
            <a:srgbClr val="0F172A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0" y="3291840"/>
            <a:ext cx="502920" cy="502920"/>
          </a:xfrm>
          <a:prstGeom prst="rect">
            <a:avLst/>
          </a:prstGeom>
          <a:solidFill>
            <a:srgbClr val="1E3A5F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0" y="3931920"/>
            <a:ext cx="502920" cy="502920"/>
          </a:xfrm>
          <a:prstGeom prst="rect">
            <a:avLst/>
          </a:prstGeom>
          <a:solidFill>
            <a:srgbClr val="1D4ED8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297680"/>
            <a:ext cx="1645920" cy="411480"/>
          </a:xfrm>
          <a:prstGeom prst="rect">
            <a:avLst/>
          </a:prstGeom>
          <a:solidFill>
            <a:srgbClr val="1D4ED8">
              <a:alpha val="7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4297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⏱ 15 minutos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" cy="7498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0789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API Gateway?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4447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65960"/>
            <a:ext cx="41148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96596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0391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Trust Boundaries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4048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min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41148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92608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9992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Críticos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3649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 min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86200"/>
            <a:ext cx="411480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88620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39593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STRIDE — 27 Amenazas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3251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00584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05840"/>
            <a:ext cx="411480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00584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10789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Amenazas Críticas (DREAD)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14447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 min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196596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965960"/>
            <a:ext cx="411480" cy="7498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196596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20391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Chain MITRE ATT&amp;CK — 11 Fases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24048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min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92608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926080"/>
            <a:ext cx="411480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92608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49240" y="29992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Mitigación P0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33649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min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88620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886200"/>
            <a:ext cx="411480" cy="74980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88620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49240" y="39593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Residuales y Conclusiones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49240" y="43251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API Gateway?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858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6858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87552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entrada único que centraliza, protege y gestiona el acceso a todos los microservicios backend desde el exterior.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1554480" cy="10972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8745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</a:rPr>
              <a:t>🌐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</a:rPr>
              <a:t>INTERNET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</a:rPr>
              <a:t>Clientes / Atacantes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0" y="242316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217627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HTTPS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31720" y="1783080"/>
            <a:ext cx="2011680" cy="12801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2331720" y="1783080"/>
            <a:ext cx="201168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2331720" y="1874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API GATEWAY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(Kong / AWS)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2377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Auth · Rate Limit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Routing · Logging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43400" y="242316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1762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mTLS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0600" y="1783080"/>
            <a:ext cx="4069080" cy="128016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0600" y="1783080"/>
            <a:ext cx="40690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83794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MICROSERVICIOS (Kubernetes)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286000"/>
            <a:ext cx="10515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2860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Users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2286000"/>
            <a:ext cx="10515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22860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Inventory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0" y="2286000"/>
            <a:ext cx="10515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22860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Orders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¿Por qué es crítico desde seguridad?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566160"/>
            <a:ext cx="2788920" cy="12344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3566160"/>
            <a:ext cx="27889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6393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⚠️  Single Point of Failure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00507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Si se compromete, expone TODOS los microservicios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3566160"/>
            <a:ext cx="2788920" cy="12344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2" name="Shape 30"/>
          <p:cNvSpPr/>
          <p:nvPr/>
        </p:nvSpPr>
        <p:spPr>
          <a:xfrm>
            <a:off x="3200400" y="3566160"/>
            <a:ext cx="27889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36393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🎯  Amplia Superficie de Ataque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400507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Expuesto a internet, maneja auth, lógica compleja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3566160"/>
            <a:ext cx="2788920" cy="12344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Shape 34"/>
          <p:cNvSpPr/>
          <p:nvPr/>
        </p:nvSpPr>
        <p:spPr>
          <a:xfrm>
            <a:off x="6126480" y="3566160"/>
            <a:ext cx="278892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36393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🛡️  Primera Línea de Defensa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400507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Bien protegido, es el control más efectivo del sistema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Técnicos del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60120"/>
            <a:ext cx="64008" cy="1737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Authorization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1280160" cy="256032"/>
          </a:xfrm>
          <a:prstGeom prst="rect">
            <a:avLst/>
          </a:prstGeom>
          <a:solidFill>
            <a:srgbClr val="3B82F6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63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OAuth2 + JWT (RS256)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tokens, scopes y permisos de acceso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74320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960120"/>
            <a:ext cx="64008" cy="1737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0972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1463040"/>
            <a:ext cx="1280160" cy="256032"/>
          </a:xfrm>
          <a:prstGeom prst="rect">
            <a:avLst/>
          </a:prstGeom>
          <a:solidFill>
            <a:srgbClr val="8B5CF6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463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Redis-backed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1828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req/min por usuario, 5.000 req/hora máximo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960120"/>
            <a:ext cx="274320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960120"/>
            <a:ext cx="64008" cy="1737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0972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1463040"/>
            <a:ext cx="1280160" cy="256032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1463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Istio Policies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1828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Previene cascading failures entre microservicios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926080"/>
            <a:ext cx="274320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" y="2926080"/>
            <a:ext cx="64008" cy="1737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063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3429000"/>
            <a:ext cx="1280160" cy="256032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429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Istio mTLS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794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encriptada service-to-service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2926080"/>
            <a:ext cx="274320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0" y="2926080"/>
            <a:ext cx="64008" cy="1737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3063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Centralizado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83280" y="3429000"/>
            <a:ext cx="1280160" cy="256032"/>
          </a:xfrm>
          <a:prstGeom prst="rect">
            <a:avLst/>
          </a:prstGeom>
          <a:solidFill>
            <a:srgbClr val="EF4444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383280" y="3429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ELK Stack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3794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requests trackeados y auditables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926080"/>
            <a:ext cx="274320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6172200" y="2926080"/>
            <a:ext cx="64008" cy="1737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3063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55080" y="3429000"/>
            <a:ext cx="1280160" cy="256032"/>
          </a:xfrm>
          <a:prstGeom prst="rect">
            <a:avLst/>
          </a:prstGeom>
          <a:solidFill>
            <a:srgbClr val="0EA5E9">
              <a:alpha val="5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3429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RabbitMQ + Redis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55080" y="3794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messaging y caching distribuido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Alcance: Kong/AWS API Gateway  ·  Kubernetes Cluster  ·  3 Microservicios  ·  Istio mTLS  ·  Redis  ·  RabbitMQ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Trust Boundaries: 4 Zonas de Confianza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65960" cy="393192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19659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TB1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Internet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764792"/>
            <a:ext cx="169164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9842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0% confianza — UNTRUSTED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600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6888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Clientes Web · APIs de Terceros · Atacantes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960120"/>
            <a:ext cx="1965960" cy="379476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3" name="Shape 11"/>
          <p:cNvSpPr/>
          <p:nvPr/>
        </p:nvSpPr>
        <p:spPr>
          <a:xfrm>
            <a:off x="2450592" y="96012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450592" y="1051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TB2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50592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DMZ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87752" y="1764792"/>
            <a:ext cx="169164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2587752" y="1764792"/>
            <a:ext cx="507492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2450592" y="19842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30% confianza — SEMI-TRUSTED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633472" y="2377440"/>
            <a:ext cx="1600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246888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API Gateway (Kong/AWS) · WAF · Redis Cache · OAuth2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26864" y="960120"/>
            <a:ext cx="1965960" cy="3657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626864" y="96012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626864" y="1051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TB3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26864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Service Mesh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64024" y="1764792"/>
            <a:ext cx="169164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4764024" y="1764792"/>
            <a:ext cx="118414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4626864" y="19842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</a:rPr>
              <a:t>70% confianza — TRUSTED INTERNAL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09744" y="2377440"/>
            <a:ext cx="1600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246888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Istio mTLS · Microservicios · Circuit Breakers · Policies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03136" y="960120"/>
            <a:ext cx="1965960" cy="35204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1" name="Shape 29"/>
          <p:cNvSpPr/>
          <p:nvPr/>
        </p:nvSpPr>
        <p:spPr>
          <a:xfrm>
            <a:off x="6803136" y="960120"/>
            <a:ext cx="19659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6803136" y="1051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TB4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03136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Data Layer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940296" y="1764792"/>
            <a:ext cx="169164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Shape 33"/>
          <p:cNvSpPr/>
          <p:nvPr/>
        </p:nvSpPr>
        <p:spPr>
          <a:xfrm>
            <a:off x="6940296" y="1764792"/>
            <a:ext cx="1522476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6803136" y="19842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90% confianza — HIGHLY RESTRICTED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986016" y="2377440"/>
            <a:ext cx="1600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94576" y="246888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PostgreSQL · RabbitMQ · Elasticsearch · Encryption at Rest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8BDF8"/>
                </a:solidFill>
              </a:rPr>
              <a:t>⚠  No existe confianza transitiva — cada boundary requiere validación independiente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STRIDE: 27 Amenazas Identificadas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914400"/>
            <a:ext cx="1737360" cy="1280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0" y="9601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8BDF8"/>
                </a:solidFill>
              </a:rPr>
              <a:t>27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132320" y="1691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AMENAZAS TOTALES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132320" y="2286000"/>
            <a:ext cx="804672" cy="640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2286000"/>
            <a:ext cx="804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CRÍTICAS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973568" y="2286000"/>
            <a:ext cx="896112" cy="6400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7973568" y="2286000"/>
            <a:ext cx="896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</a:rPr>
              <a:t>18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</a:rPr>
              <a:t>ALTAS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960120"/>
            <a:ext cx="384048" cy="5669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96012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9966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Spoofing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1280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JWT falsificado · Session hijacking · mTLS bypass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49240" y="1051560"/>
            <a:ext cx="347472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105156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10528" y="1088136"/>
            <a:ext cx="54864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10881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3 ALTAS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8600" y="1636776"/>
            <a:ext cx="384048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" y="1636776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" y="16733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Tampering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195681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Inyección SQL/NoSQL · Manipulación JWT · Config poisoning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49240" y="1728216"/>
            <a:ext cx="347472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172821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06440" y="1764792"/>
            <a:ext cx="658368" cy="25603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6" name="Text 24"/>
          <p:cNvSpPr/>
          <p:nvPr/>
        </p:nvSpPr>
        <p:spPr>
          <a:xfrm>
            <a:off x="5806440" y="17647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1 CRÍTICA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510528" y="1764792"/>
            <a:ext cx="54864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8" name="Text 26"/>
          <p:cNvSpPr/>
          <p:nvPr/>
        </p:nvSpPr>
        <p:spPr>
          <a:xfrm>
            <a:off x="6510528" y="17647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3 ALTAS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28600" y="2313432"/>
            <a:ext cx="384048" cy="5669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" y="2313432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5800" y="23500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Repudiation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2633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Log tampering · Audit evasion · Trace spoofing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349240" y="2404872"/>
            <a:ext cx="347472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5349240" y="240487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10528" y="2441448"/>
            <a:ext cx="54864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6" name="Text 34"/>
          <p:cNvSpPr/>
          <p:nvPr/>
        </p:nvSpPr>
        <p:spPr>
          <a:xfrm>
            <a:off x="6510528" y="24414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2 ALTAS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28600" y="2990088"/>
            <a:ext cx="384048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228600" y="2990088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85800" y="30266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Info Disclosure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" y="33101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Log data leakage · Secret exposure · Error verbosity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349240" y="3081528"/>
            <a:ext cx="347472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5349240" y="308152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5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806440" y="3118104"/>
            <a:ext cx="658368" cy="25603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4" name="Text 42"/>
          <p:cNvSpPr/>
          <p:nvPr/>
        </p:nvSpPr>
        <p:spPr>
          <a:xfrm>
            <a:off x="5806440" y="31181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1 CRÍTICA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510528" y="3118104"/>
            <a:ext cx="54864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6" name="Text 44"/>
          <p:cNvSpPr/>
          <p:nvPr/>
        </p:nvSpPr>
        <p:spPr>
          <a:xfrm>
            <a:off x="6510528" y="3118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3 ALTAS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28600" y="3666744"/>
            <a:ext cx="384048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8" name="Text 46"/>
          <p:cNvSpPr/>
          <p:nvPr/>
        </p:nvSpPr>
        <p:spPr>
          <a:xfrm>
            <a:off x="228600" y="3666744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85800" y="37033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Denial of Service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5800" y="398678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DDoS volumétrico · Rate limit bypass · Resource exhaustion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349240" y="3758184"/>
            <a:ext cx="347472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2" name="Text 50"/>
          <p:cNvSpPr/>
          <p:nvPr/>
        </p:nvSpPr>
        <p:spPr>
          <a:xfrm>
            <a:off x="5349240" y="375818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5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806440" y="3794760"/>
            <a:ext cx="658368" cy="25603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4" name="Text 52"/>
          <p:cNvSpPr/>
          <p:nvPr/>
        </p:nvSpPr>
        <p:spPr>
          <a:xfrm>
            <a:off x="5806440" y="37947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1 CRÍTICA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510528" y="3794760"/>
            <a:ext cx="54864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6" name="Text 54"/>
          <p:cNvSpPr/>
          <p:nvPr/>
        </p:nvSpPr>
        <p:spPr>
          <a:xfrm>
            <a:off x="6510528" y="3794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3 ALTAS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28600" y="4343400"/>
            <a:ext cx="384048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8" name="Text 56"/>
          <p:cNvSpPr/>
          <p:nvPr/>
        </p:nvSpPr>
        <p:spPr>
          <a:xfrm>
            <a:off x="228600" y="434340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685800" y="43799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Elevation of Privilege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85800" y="4663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K8s RBAC bypass · Container escape · K8s Secret extraction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349240" y="4434840"/>
            <a:ext cx="347472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2" name="Text 60"/>
          <p:cNvSpPr/>
          <p:nvPr/>
        </p:nvSpPr>
        <p:spPr>
          <a:xfrm>
            <a:off x="5349240" y="44348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5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806440" y="4471416"/>
            <a:ext cx="658368" cy="25603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4" name="Text 62"/>
          <p:cNvSpPr/>
          <p:nvPr/>
        </p:nvSpPr>
        <p:spPr>
          <a:xfrm>
            <a:off x="5806440" y="44714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1 CRÍTICA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510528" y="4471416"/>
            <a:ext cx="54864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6" name="Text 64"/>
          <p:cNvSpPr/>
          <p:nvPr/>
        </p:nvSpPr>
        <p:spPr>
          <a:xfrm>
            <a:off x="6510528" y="44714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4 ALTAS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Top 4 Amenazas Críticas — Metodología DREAD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06240" cy="1783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60120"/>
            <a:ext cx="420624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3429000" y="1143000"/>
            <a:ext cx="822960" cy="822960"/>
          </a:xfrm>
          <a:prstGeom prst="rect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1143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29000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/50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698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TH18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075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Flooding / DDoS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709928"/>
            <a:ext cx="1188720" cy="228600"/>
          </a:xfrm>
          <a:prstGeom prst="rect">
            <a:avLst/>
          </a:prstGeom>
          <a:solidFill>
            <a:srgbClr val="DC2626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099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DoS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2057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completamente inaccesible para todos los usuarios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4206240" cy="1783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960120"/>
            <a:ext cx="420624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Shape 14"/>
          <p:cNvSpPr/>
          <p:nvPr/>
        </p:nvSpPr>
        <p:spPr>
          <a:xfrm>
            <a:off x="7909560" y="1143000"/>
            <a:ext cx="822960" cy="822960"/>
          </a:xfrm>
          <a:prstGeom prst="rect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909560" y="1143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909560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/50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10698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TH25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3075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— Acceso no autorizado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709928"/>
            <a:ext cx="1188720" cy="228600"/>
          </a:xfrm>
          <a:prstGeom prst="rect">
            <a:avLst/>
          </a:prstGeom>
          <a:solidFill>
            <a:srgbClr val="DC2626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7099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Elevation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0" y="2057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datos de cualquier usuario del sistema vía enumeración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926080"/>
            <a:ext cx="4206240" cy="1783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" y="2926080"/>
            <a:ext cx="42062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3108960"/>
            <a:ext cx="822960" cy="822960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1089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41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429000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/50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30358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TH06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2735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SQL/NoSQL Injection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3675888"/>
            <a:ext cx="1188720" cy="22860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6758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Tampering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4023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o destrucción de toda la base de datos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926080"/>
            <a:ext cx="4206240" cy="1783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4709160" y="2926080"/>
            <a:ext cx="42062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Shape 34"/>
          <p:cNvSpPr/>
          <p:nvPr/>
        </p:nvSpPr>
        <p:spPr>
          <a:xfrm>
            <a:off x="7909560" y="3108960"/>
            <a:ext cx="822960" cy="822960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909560" y="31089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40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7909560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/50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30358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TH14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32735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Exposure in Logs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846320" y="3675888"/>
            <a:ext cx="1188720" cy="22860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6758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Info Disclosure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46320" y="4023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y tokens expuestos · Multas GDPR hasta 4% revenue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DREAD: Damage · Reproducibility · Exploitability · Affected Users · Discoverability  |  Máx: 50 pts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MITRE ATT&amp;CK: Kill Chain — 11 Fases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4114800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914400"/>
            <a:ext cx="54864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05840"/>
            <a:ext cx="292608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8755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Initial Access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12070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T1190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28800" y="120700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Exploit CVE en Kong API GW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" y="1581912"/>
            <a:ext cx="4114800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1581912"/>
            <a:ext cx="54864" cy="5669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1673352"/>
            <a:ext cx="292608" cy="2926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8368" y="165506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</a:rPr>
              <a:t>Execution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" y="18745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T1609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828800" y="18745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kubectl exec en container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" y="2249424"/>
            <a:ext cx="4114800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2249424"/>
            <a:ext cx="54864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2340864"/>
            <a:ext cx="292608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8368" y="232257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Persistence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" y="2542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T1525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828800" y="254203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Imagen maliciosa en registry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2880" y="2916936"/>
            <a:ext cx="4114800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Shape 24"/>
          <p:cNvSpPr/>
          <p:nvPr/>
        </p:nvSpPr>
        <p:spPr>
          <a:xfrm>
            <a:off x="182880" y="2916936"/>
            <a:ext cx="54864" cy="566928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" y="3008376"/>
            <a:ext cx="292608" cy="292608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008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8368" y="29900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</a:rPr>
              <a:t>Privilege Escalation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8368" y="32095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T1611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828800" y="32095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Container escape (runC CVE)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2880" y="3584448"/>
            <a:ext cx="4114800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" y="3584448"/>
            <a:ext cx="54864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675888"/>
            <a:ext cx="292608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675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58368" y="36576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Defense Evasion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8368" y="387705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T1070.004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828800" y="387705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Elimina audit logs del nodo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82880" y="4251960"/>
            <a:ext cx="4114800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" y="4251960"/>
            <a:ext cx="54864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4343400"/>
            <a:ext cx="292608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58368" y="432511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Credential Access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58368" y="45445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T1552.007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828800" y="45445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Extrae K8s Secrets vía API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914400"/>
            <a:ext cx="4114800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7" name="Shape 45"/>
          <p:cNvSpPr/>
          <p:nvPr/>
        </p:nvSpPr>
        <p:spPr>
          <a:xfrm>
            <a:off x="4663440" y="914400"/>
            <a:ext cx="54864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8" name="Shape 46"/>
          <p:cNvSpPr/>
          <p:nvPr/>
        </p:nvSpPr>
        <p:spPr>
          <a:xfrm>
            <a:off x="4754880" y="1005840"/>
            <a:ext cx="292608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9" name="Text 47"/>
          <p:cNvSpPr/>
          <p:nvPr/>
        </p:nvSpPr>
        <p:spPr>
          <a:xfrm>
            <a:off x="4754880" y="1005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07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138928" y="98755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Discovery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138928" y="12070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T1613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309360" y="120700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Enumera pods y servicios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63440" y="1581912"/>
            <a:ext cx="4114800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4" name="Shape 52"/>
          <p:cNvSpPr/>
          <p:nvPr/>
        </p:nvSpPr>
        <p:spPr>
          <a:xfrm>
            <a:off x="4663440" y="1581912"/>
            <a:ext cx="54864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5" name="Shape 53"/>
          <p:cNvSpPr/>
          <p:nvPr/>
        </p:nvSpPr>
        <p:spPr>
          <a:xfrm>
            <a:off x="4754880" y="1673352"/>
            <a:ext cx="292608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6" name="Text 54"/>
          <p:cNvSpPr/>
          <p:nvPr/>
        </p:nvSpPr>
        <p:spPr>
          <a:xfrm>
            <a:off x="4754880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08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38928" y="165506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Lateral Movement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138928" y="18745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T1021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309360" y="18745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Acceso a PostgreSQL con creds robadas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663440" y="2249424"/>
            <a:ext cx="4114800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1" name="Shape 59"/>
          <p:cNvSpPr/>
          <p:nvPr/>
        </p:nvSpPr>
        <p:spPr>
          <a:xfrm>
            <a:off x="4663440" y="2249424"/>
            <a:ext cx="54864" cy="566928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62" name="Shape 60"/>
          <p:cNvSpPr/>
          <p:nvPr/>
        </p:nvSpPr>
        <p:spPr>
          <a:xfrm>
            <a:off x="4754880" y="2340864"/>
            <a:ext cx="292608" cy="292608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63" name="Text 61"/>
          <p:cNvSpPr/>
          <p:nvPr/>
        </p:nvSpPr>
        <p:spPr>
          <a:xfrm>
            <a:off x="4754880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09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138928" y="232257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5A30D"/>
                </a:solidFill>
              </a:rPr>
              <a:t>Collection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138928" y="2542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T1005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309360" y="254203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pg_dump de PostgreSQL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663440" y="2916936"/>
            <a:ext cx="4114800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8" name="Shape 66"/>
          <p:cNvSpPr/>
          <p:nvPr/>
        </p:nvSpPr>
        <p:spPr>
          <a:xfrm>
            <a:off x="4663440" y="2916936"/>
            <a:ext cx="54864" cy="5669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9" name="Shape 67"/>
          <p:cNvSpPr/>
          <p:nvPr/>
        </p:nvSpPr>
        <p:spPr>
          <a:xfrm>
            <a:off x="4754880" y="3008376"/>
            <a:ext cx="292608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0" name="Text 68"/>
          <p:cNvSpPr/>
          <p:nvPr/>
        </p:nvSpPr>
        <p:spPr>
          <a:xfrm>
            <a:off x="4754880" y="3008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138928" y="29900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Exfiltration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138928" y="32095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T1537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309360" y="32095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Transfer a S3 del atacante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663440" y="3584448"/>
            <a:ext cx="4114800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5" name="Shape 73"/>
          <p:cNvSpPr/>
          <p:nvPr/>
        </p:nvSpPr>
        <p:spPr>
          <a:xfrm>
            <a:off x="4663440" y="3584448"/>
            <a:ext cx="54864" cy="56692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76" name="Shape 74"/>
          <p:cNvSpPr/>
          <p:nvPr/>
        </p:nvSpPr>
        <p:spPr>
          <a:xfrm>
            <a:off x="4754880" y="3675888"/>
            <a:ext cx="292608" cy="29260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77" name="Text 75"/>
          <p:cNvSpPr/>
          <p:nvPr/>
        </p:nvSpPr>
        <p:spPr>
          <a:xfrm>
            <a:off x="4754880" y="3675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11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138928" y="36576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7857"/>
                </a:solidFill>
              </a:rPr>
              <a:t>Impact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5138928" y="387705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T1485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309360" y="387705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DROP TABLE para cubrir rastros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2" name="Text 8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29 técnicas ATT&amp;CK mapeadas  ·  Tiempo estimado del ataque: ~3-6 horas sin detección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Plan de Mitigación: Controles P0 (Críticos)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868680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38912" cy="7040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60120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P0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7512" y="960120"/>
            <a:ext cx="64008" cy="7040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51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C01: Rate Limiting en 3 Capas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36245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WAF + Kong + Application layer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1143000"/>
            <a:ext cx="164592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1143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</a:rPr>
              <a:t>Mitiga: TH18, TH21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680960" y="1143000"/>
            <a:ext cx="1005840" cy="320040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1143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Sprint 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755648"/>
            <a:ext cx="868680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1755648"/>
            <a:ext cx="438912" cy="7040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" y="1755648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P0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" y="1755648"/>
            <a:ext cx="64008" cy="7040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18470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C02: JWT Secret Rotation + RS256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15798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Asymmetric keys + rotación 30 días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1938528"/>
            <a:ext cx="164592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19385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</a:rPr>
              <a:t>Mitiga: TH01, TH23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680960" y="1938528"/>
            <a:ext cx="1005840" cy="320040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19385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Sprint 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551176"/>
            <a:ext cx="868680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551176"/>
            <a:ext cx="438912" cy="7040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" y="2551176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P0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" y="2551176"/>
            <a:ext cx="64008" cy="7040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26426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C03: Log Scrubbing + Encryption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295351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Fluentd filters + Elasticsearch TLS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89320" y="2734056"/>
            <a:ext cx="164592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1" name="Text 29"/>
          <p:cNvSpPr/>
          <p:nvPr/>
        </p:nvSpPr>
        <p:spPr>
          <a:xfrm>
            <a:off x="5989320" y="27340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</a:rPr>
              <a:t>Mitiga: TH10, TH11, TH14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680960" y="2734056"/>
            <a:ext cx="1005840" cy="320040"/>
          </a:xfrm>
          <a:prstGeom prst="rect">
            <a:avLst/>
          </a:prstGeom>
          <a:solidFill>
            <a:srgbClr val="0891B2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680960" y="27340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Sprint 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3346704"/>
            <a:ext cx="868680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3346704"/>
            <a:ext cx="438912" cy="7040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228600" y="3346704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P0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7512" y="3346704"/>
            <a:ext cx="64008" cy="7040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34381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C04: External Secrets Operator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2960" y="3749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Vault integration + auto-rotation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89320" y="3529584"/>
            <a:ext cx="164592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1" name="Text 39"/>
          <p:cNvSpPr/>
          <p:nvPr/>
        </p:nvSpPr>
        <p:spPr>
          <a:xfrm>
            <a:off x="5989320" y="352958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</a:rPr>
              <a:t>Mitiga: TH01, TH04, TH08, TH16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680960" y="3529584"/>
            <a:ext cx="1005840" cy="320040"/>
          </a:xfrm>
          <a:prstGeom prst="rect">
            <a:avLst/>
          </a:prstGeom>
          <a:solidFill>
            <a:srgbClr val="059669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680960" y="35295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Sprint 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28600" y="4142232"/>
            <a:ext cx="868680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28600" y="4142232"/>
            <a:ext cx="438912" cy="7040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6" name="Text 44"/>
          <p:cNvSpPr/>
          <p:nvPr/>
        </p:nvSpPr>
        <p:spPr>
          <a:xfrm>
            <a:off x="228600" y="4142232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P0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67512" y="4142232"/>
            <a:ext cx="64008" cy="7040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8" name="Text 46"/>
          <p:cNvSpPr/>
          <p:nvPr/>
        </p:nvSpPr>
        <p:spPr>
          <a:xfrm>
            <a:off x="822960" y="42336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C05: Input Validation Framework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22960" y="454456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Schema validation + Prepared statements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989320" y="4325112"/>
            <a:ext cx="164592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1" name="Text 49"/>
          <p:cNvSpPr/>
          <p:nvPr/>
        </p:nvSpPr>
        <p:spPr>
          <a:xfrm>
            <a:off x="5989320" y="43251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</a:rPr>
              <a:t>Mitiga: TH05, TH06, TH25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680960" y="4325112"/>
            <a:ext cx="1005840" cy="320040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680960" y="43251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Sprint 1-2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5" name="Text 53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Implementación en 4 semanas · Sprints 1 y 2  ·  Prioridad máxima de ejecución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Controles Alineados a NIST / ISO 27001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8686800" cy="7040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60120"/>
            <a:ext cx="1463040" cy="7040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60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IDENTIFY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3990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NIST ID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28800" y="10972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 (CMDB)  ·  Risk Assessment (STRIDE/DREAD)  ·  Governance (OPA)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755648"/>
            <a:ext cx="8686800" cy="7040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" y="1755648"/>
            <a:ext cx="1463040" cy="7040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755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PROTECT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" y="2194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NIST PR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828800" y="18928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(Istio)  ·  JWT RS256 + Vault  ·  WAF  ·  TLS 1.3 Encryption en tránsito y reposo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551176"/>
            <a:ext cx="8686800" cy="7040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" y="2551176"/>
            <a:ext cx="1463040" cy="7040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" y="25511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DETECT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" y="2990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NIST DE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28800" y="26883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 Runtime Security  ·  ELK SIEM  ·  Kubernetes Audit Logs  ·  Prometheus Alerts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3346704"/>
            <a:ext cx="8686800" cy="7040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" y="3346704"/>
            <a:ext cx="1463040" cy="7040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33467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RESPOND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" y="37856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NIST 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28800" y="3483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Runbooks  ·  PagerDuty 24/7  ·  Forensics (90d logs)  ·  Playbooks CSIRT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4142232"/>
            <a:ext cx="8686800" cy="7040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" y="4142232"/>
            <a:ext cx="1463040" cy="7040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" y="41422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RECOVER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8600" y="45811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NIST RC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828800" y="427939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Velero Backups  ·  DR Plan (RTO &lt; 4h)  ·  Post-mortems  ·  Business Continuity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Riesgos Residuales — 7 Riesgos Identificados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Riesgos que persisten aun después de implementar todos los controles propuestos: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261872"/>
            <a:ext cx="86868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261872"/>
            <a:ext cx="64008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316736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R01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13167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en Kubernetes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536192"/>
            <a:ext cx="5029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Mitigación: Patching &lt; 24h, bug bounty program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74920" y="1353312"/>
            <a:ext cx="82296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3533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Prob: Muy Baja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943600" y="1353312"/>
            <a:ext cx="685800" cy="182880"/>
          </a:xfrm>
          <a:prstGeom prst="rect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3533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CRÍTICO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675120" y="1353312"/>
            <a:ext cx="2011680" cy="1828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3533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</a:rPr>
              <a:t>MITIGAR + ACEPTAR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28600" y="1787652"/>
            <a:ext cx="86868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" y="1787652"/>
            <a:ext cx="64008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1842516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R02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18425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(empleado malicioso)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048" y="2061972"/>
            <a:ext cx="5029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Mitigación: Least privilege, audit logs, background checks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74920" y="1879092"/>
            <a:ext cx="82296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18790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Prob: Baja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943600" y="1879092"/>
            <a:ext cx="685800" cy="18288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187909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ALTO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675120" y="1879092"/>
            <a:ext cx="2011680" cy="1828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18790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</a:rPr>
              <a:t>MITIGAR + MONITOREAR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28600" y="2313432"/>
            <a:ext cx="86868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" y="2313432"/>
            <a:ext cx="64008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368296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R03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14400" y="236829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/ Nation-State Actor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4048" y="2587752"/>
            <a:ext cx="5029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Mitigación: Segmentación avanzada, threat intelligence feeds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74920" y="2404872"/>
            <a:ext cx="82296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24048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Prob: Muy Baja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943600" y="2404872"/>
            <a:ext cx="685800" cy="182880"/>
          </a:xfrm>
          <a:prstGeom prst="rect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0" y="24048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CRÍTICO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675120" y="2404872"/>
            <a:ext cx="2011680" cy="1828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24048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</a:rPr>
              <a:t>MITIGAR + ACEPTAR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28600" y="2839212"/>
            <a:ext cx="86868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228600" y="2839212"/>
            <a:ext cx="64008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384048" y="2894076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R04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14400" y="28940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Attack (npm/pip/Docker)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84048" y="3113532"/>
            <a:ext cx="5029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Mitigación: SBOM, dependency scanning, private registries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074920" y="2930652"/>
            <a:ext cx="82296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5074920" y="29306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Prob: Baja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943600" y="2930652"/>
            <a:ext cx="685800" cy="18288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0" y="293065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ALTO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675120" y="2930652"/>
            <a:ext cx="2011680" cy="1828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8" name="Text 46"/>
          <p:cNvSpPr/>
          <p:nvPr/>
        </p:nvSpPr>
        <p:spPr>
          <a:xfrm>
            <a:off x="6675120" y="29306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</a:rPr>
              <a:t>MITIGAR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28600" y="3364992"/>
            <a:ext cx="86868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Shape 48"/>
          <p:cNvSpPr/>
          <p:nvPr/>
        </p:nvSpPr>
        <p:spPr>
          <a:xfrm>
            <a:off x="228600" y="3364992"/>
            <a:ext cx="64008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384048" y="3419856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R05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914400" y="34198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Volumétrico Masivo (&gt;100 Gbps)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84048" y="3639312"/>
            <a:ext cx="5029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Mitigación: Cloudflare / AWS Shield, seguro ciberseguridad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74920" y="3456432"/>
            <a:ext cx="82296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53"/>
          <p:cNvSpPr/>
          <p:nvPr/>
        </p:nvSpPr>
        <p:spPr>
          <a:xfrm>
            <a:off x="5074920" y="34564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Prob: Baja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943600" y="3456432"/>
            <a:ext cx="685800" cy="182880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5943600" y="34564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MEDIO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675120" y="3456432"/>
            <a:ext cx="2011680" cy="1828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9" name="Text 57"/>
          <p:cNvSpPr/>
          <p:nvPr/>
        </p:nvSpPr>
        <p:spPr>
          <a:xfrm>
            <a:off x="6675120" y="34564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</a:rPr>
              <a:t>TRANSFERIR + MITIGAR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28600" y="3890772"/>
            <a:ext cx="86868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1" name="Shape 59"/>
          <p:cNvSpPr/>
          <p:nvPr/>
        </p:nvSpPr>
        <p:spPr>
          <a:xfrm>
            <a:off x="228600" y="3890772"/>
            <a:ext cx="64008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2" name="Text 60"/>
          <p:cNvSpPr/>
          <p:nvPr/>
        </p:nvSpPr>
        <p:spPr>
          <a:xfrm>
            <a:off x="384048" y="3945636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R06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14400" y="39456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/ Phishing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384048" y="4165092"/>
            <a:ext cx="5029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Mitigación: Training trimestral, simulaciones, MFA obligatorio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074920" y="3982212"/>
            <a:ext cx="82296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5074920" y="39822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Prob: Media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943600" y="3982212"/>
            <a:ext cx="685800" cy="18288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5943600" y="39822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MEDIO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675120" y="3982212"/>
            <a:ext cx="2011680" cy="1828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0" name="Text 68"/>
          <p:cNvSpPr/>
          <p:nvPr/>
        </p:nvSpPr>
        <p:spPr>
          <a:xfrm>
            <a:off x="6675120" y="39822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</a:rPr>
              <a:t>MITIGAR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228600" y="4416552"/>
            <a:ext cx="86868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2" name="Shape 70"/>
          <p:cNvSpPr/>
          <p:nvPr/>
        </p:nvSpPr>
        <p:spPr>
          <a:xfrm>
            <a:off x="228600" y="4416552"/>
            <a:ext cx="64008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3" name="Text 71"/>
          <p:cNvSpPr/>
          <p:nvPr/>
        </p:nvSpPr>
        <p:spPr>
          <a:xfrm>
            <a:off x="384048" y="4471416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R07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914400" y="44714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Regional del Cloud Provider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384048" y="4690872"/>
            <a:ext cx="5029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Mitigación: Multi-AZ, DR plan, backups región secundaria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074920" y="4507992"/>
            <a:ext cx="82296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7" name="Text 75"/>
          <p:cNvSpPr/>
          <p:nvPr/>
        </p:nvSpPr>
        <p:spPr>
          <a:xfrm>
            <a:off x="5074920" y="45079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Prob: Muy Baja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5943600" y="4507992"/>
            <a:ext cx="685800" cy="18288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5943600" y="450799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ALTO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6675120" y="4507992"/>
            <a:ext cx="2011680" cy="1828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1" name="Text 79"/>
          <p:cNvSpPr/>
          <p:nvPr/>
        </p:nvSpPr>
        <p:spPr>
          <a:xfrm>
            <a:off x="6675120" y="45079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</a:rPr>
              <a:t>MITIGAR + ACEPTAR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Conclusiones y Próximos Pasos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0116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60120"/>
            <a:ext cx="20116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515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8BDF8"/>
                </a:solidFill>
              </a:rPr>
              <a:t>27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28600" y="1719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amenazas identificadas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(4 críticas)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960120"/>
            <a:ext cx="20116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2423160" y="96012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10515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</a:rPr>
              <a:t>15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423160" y="1719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controles de seguridad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propuestos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20116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7720" y="960120"/>
            <a:ext cx="20116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0515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366F1"/>
                </a:solidFill>
              </a:rPr>
              <a:t>4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617720" y="1719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capas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defensa en profundidad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960120"/>
            <a:ext cx="20116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6812280" y="96012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0515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</a:rPr>
              <a:t>4h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812280" y="1719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RTO objetivo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 plan de recuperación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" y="27432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Análisis STRIDE/DREAD + 29 técnicas MITRE ATT&amp;CK en 11 fases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23160" y="27432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controles P0 implementables en Sprint 1-2 (4 semanas)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27432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WAF → Gateway → Service Mesh → App → Data Layer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12280" y="27432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Velero Backups + DR Plan + Post-mortems continuos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429000"/>
            <a:ext cx="86868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" y="34290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PRÓXIMOS PASOS INMEDIATOS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3794760"/>
            <a:ext cx="237744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3794760"/>
            <a:ext cx="320040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79476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3840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controles P0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(C01–C05) en Sprint 1-2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29000" y="3794760"/>
            <a:ext cx="237744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3794760"/>
            <a:ext cx="320040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3429000" y="379476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840480" y="3840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de validación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post-implementación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794760"/>
            <a:ext cx="237744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6126480" y="3794760"/>
            <a:ext cx="320040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379476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37960" y="3840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métricas de éxito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MTTD, MTTR, alertas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</a:rPr>
              <a:t>Gracias por su atención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2971800"/>
            <a:ext cx="457200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127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Juan Lamolle  ·  Serafín González  ·  Fernando Rodríguez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Documentación completa disponible en el repositorio del grupo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4389120"/>
            <a:ext cx="548640" cy="457200"/>
          </a:xfrm>
          <a:prstGeom prst="rect">
            <a:avLst/>
          </a:prstGeom>
          <a:solidFill>
            <a:srgbClr val="1D4ED8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4389120"/>
            <a:ext cx="548640" cy="457200"/>
          </a:xfrm>
          <a:prstGeom prst="rect">
            <a:avLst/>
          </a:prstGeom>
          <a:solidFill>
            <a:srgbClr val="0EA5E9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0" y="4389120"/>
            <a:ext cx="548640" cy="457200"/>
          </a:xfrm>
          <a:prstGeom prst="rect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4389120"/>
            <a:ext cx="548640" cy="457200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0" y="4389120"/>
            <a:ext cx="548640" cy="457200"/>
          </a:xfrm>
          <a:prstGeom prst="rect">
            <a:avLst/>
          </a:prstGeom>
          <a:solidFill>
            <a:srgbClr val="1D4ED8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Riesgos API Gateway</dc:title>
  <dc:subject>PptxGenJS Presentation</dc:subject>
  <dc:creator>Juan Lamolle | Serafín González | Fernando Rodríguez</dc:creator>
  <cp:lastModifiedBy>Juan Lamolle | Serafín González | Fernando Rodríguez</cp:lastModifiedBy>
  <cp:revision>1</cp:revision>
  <dcterms:created xsi:type="dcterms:W3CDTF">2026-05-25T21:14:32Z</dcterms:created>
  <dcterms:modified xsi:type="dcterms:W3CDTF">2026-05-25T21:14:32Z</dcterms:modified>
</cp:coreProperties>
</file>