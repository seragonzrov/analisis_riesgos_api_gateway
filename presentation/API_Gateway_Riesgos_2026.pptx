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548640"/>
            <a:ext cx="2377440" cy="320040"/>
          </a:xfrm>
          <a:prstGeom prst="rect">
            <a:avLst>
              <a:gd name="adj" fmla="val 14286"/>
            </a:avLst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548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THREAT MODELING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Riesgos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para Microservicios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2606040"/>
            <a:ext cx="411480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788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Lamolle  ·  Serafín González  ·  Fernando Rodríguez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de mayo de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0" y="731520"/>
            <a:ext cx="502920" cy="502920"/>
          </a:xfrm>
          <a:prstGeom prst="rect">
            <a:avLst/>
          </a:prstGeom>
          <a:solidFill>
            <a:srgbClr val="1E3A5F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1371600"/>
            <a:ext cx="502920" cy="502920"/>
          </a:xfrm>
          <a:prstGeom prst="rect">
            <a:avLst/>
          </a:prstGeom>
          <a:solidFill>
            <a:srgbClr val="1D4ED8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2011680"/>
            <a:ext cx="502920" cy="502920"/>
          </a:xfrm>
          <a:prstGeom prst="rect">
            <a:avLst/>
          </a:prstGeom>
          <a:solidFill>
            <a:srgbClr val="1E3A5F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2651760"/>
            <a:ext cx="502920" cy="502920"/>
          </a:xfrm>
          <a:prstGeom prst="rect">
            <a:avLst/>
          </a:prstGeom>
          <a:solidFill>
            <a:srgbClr val="0F172A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3291840"/>
            <a:ext cx="502920" cy="502920"/>
          </a:xfrm>
          <a:prstGeom prst="rect">
            <a:avLst/>
          </a:prstGeom>
          <a:solidFill>
            <a:srgbClr val="1D4ED8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3931920"/>
            <a:ext cx="502920" cy="502920"/>
          </a:xfrm>
          <a:prstGeom prst="rect">
            <a:avLst/>
          </a:prstGeom>
          <a:solidFill>
            <a:srgbClr val="0F172A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731520"/>
            <a:ext cx="502920" cy="502920"/>
          </a:xfrm>
          <a:prstGeom prst="rect">
            <a:avLst/>
          </a:prstGeom>
          <a:solidFill>
            <a:srgbClr val="1D4ED8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1371600"/>
            <a:ext cx="502920" cy="502920"/>
          </a:xfrm>
          <a:prstGeom prst="rect">
            <a:avLst/>
          </a:prstGeom>
          <a:solidFill>
            <a:srgbClr val="1E3A5F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2011680"/>
            <a:ext cx="502920" cy="502920"/>
          </a:xfrm>
          <a:prstGeom prst="rect">
            <a:avLst/>
          </a:prstGeom>
          <a:solidFill>
            <a:srgbClr val="0F172A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2651760"/>
            <a:ext cx="502920" cy="502920"/>
          </a:xfrm>
          <a:prstGeom prst="rect">
            <a:avLst/>
          </a:prstGeom>
          <a:solidFill>
            <a:srgbClr val="1D4ED8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3291840"/>
            <a:ext cx="502920" cy="502920"/>
          </a:xfrm>
          <a:prstGeom prst="rect">
            <a:avLst/>
          </a:prstGeom>
          <a:solidFill>
            <a:srgbClr val="0F172A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0" y="3931920"/>
            <a:ext cx="502920" cy="502920"/>
          </a:xfrm>
          <a:prstGeom prst="rect">
            <a:avLst/>
          </a:prstGeom>
          <a:solidFill>
            <a:srgbClr val="1E3A5F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731520"/>
            <a:ext cx="502920" cy="502920"/>
          </a:xfrm>
          <a:prstGeom prst="rect">
            <a:avLst/>
          </a:prstGeom>
          <a:solidFill>
            <a:srgbClr val="1E3A5F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1371600"/>
            <a:ext cx="502920" cy="502920"/>
          </a:xfrm>
          <a:prstGeom prst="rect">
            <a:avLst/>
          </a:prstGeom>
          <a:solidFill>
            <a:srgbClr val="0F172A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2011680"/>
            <a:ext cx="502920" cy="502920"/>
          </a:xfrm>
          <a:prstGeom prst="rect">
            <a:avLst/>
          </a:prstGeom>
          <a:solidFill>
            <a:srgbClr val="1D4ED8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2651760"/>
            <a:ext cx="502920" cy="502920"/>
          </a:xfrm>
          <a:prstGeom prst="rect">
            <a:avLst/>
          </a:prstGeom>
          <a:solidFill>
            <a:srgbClr val="0F172A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0" y="3291840"/>
            <a:ext cx="502920" cy="502920"/>
          </a:xfrm>
          <a:prstGeom prst="rect">
            <a:avLst/>
          </a:prstGeom>
          <a:solidFill>
            <a:srgbClr val="1E3A5F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0" y="3931920"/>
            <a:ext cx="502920" cy="502920"/>
          </a:xfrm>
          <a:prstGeom prst="rect">
            <a:avLst/>
          </a:prstGeom>
          <a:solidFill>
            <a:srgbClr val="1D4ED8">
              <a:alpha val="60000"/>
            </a:srgbClr>
          </a:solidFill>
          <a:ln w="635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297680"/>
            <a:ext cx="1645920" cy="411480"/>
          </a:xfrm>
          <a:prstGeom prst="rect">
            <a:avLst/>
          </a:prstGeom>
          <a:solidFill>
            <a:srgbClr val="1D4ED8">
              <a:alpha val="7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4297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</a:rPr>
              <a:t>⏱ 15 minutos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" cy="7498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0789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API Gateway?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4447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965960"/>
            <a:ext cx="411480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96596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03911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Trust Boundaries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4048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 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26080"/>
            <a:ext cx="411480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92608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29992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Críticos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3649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 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88620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886200"/>
            <a:ext cx="411480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88620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39593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STRIDE — 27 Amenazas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43251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 min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00584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005840"/>
            <a:ext cx="411480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00584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10789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Amenazas Críticas (DREAD)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14447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 min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196596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1965960"/>
            <a:ext cx="411480" cy="7498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196596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203911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Chain MITRE ATT&amp;CK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24048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 min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292608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2926080"/>
            <a:ext cx="411480" cy="7498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92608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49240" y="29992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Mitigación P0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49240" y="33649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 min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88620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3886200"/>
            <a:ext cx="411480" cy="74980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88620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49240" y="39593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Residuales y Conclusiones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49240" y="43251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API Gateway?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58952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8595360" cy="6858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6858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87552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entrada único que centraliza, protege y gestiona el acceso a todos los microservicios backend desde el exterior.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1554480" cy="10972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8745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91B1B"/>
                </a:solidFill>
              </a:rPr>
              <a:t>🌐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991B1B"/>
                </a:solidFill>
              </a:rPr>
              <a:t>INTERNET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991B1B"/>
                </a:solidFill>
              </a:rPr>
              <a:t>Clientes / Atacantes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0" y="2423160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217627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HTTPS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331720" y="1783080"/>
            <a:ext cx="2011680" cy="12801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2331720" y="1783080"/>
            <a:ext cx="201168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2331720" y="1874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API GATEWAY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(Kong / AWS)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2377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Auth · Rate Limit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Routing · Logging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43400" y="2423160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217627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mTLS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00600" y="1783080"/>
            <a:ext cx="4069080" cy="128016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7"/>
          <p:cNvSpPr/>
          <p:nvPr/>
        </p:nvSpPr>
        <p:spPr>
          <a:xfrm>
            <a:off x="4800600" y="1783080"/>
            <a:ext cx="40690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837944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MICROSERVICIOS (Kubernetes)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2286000"/>
            <a:ext cx="10515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2860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Users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2286000"/>
            <a:ext cx="10515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22860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Inventory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98080" y="2286000"/>
            <a:ext cx="10515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0" y="22860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Orders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¿Por qué es crítico desde seguridad?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3566160"/>
            <a:ext cx="2788920" cy="12344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3566160"/>
            <a:ext cx="27889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6393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⚠️  Single Point of Failure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00507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Si se compromete, expone TODOS los microservicios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3566160"/>
            <a:ext cx="2788920" cy="12344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0" y="3566160"/>
            <a:ext cx="27889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0" y="36393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🎯  Amplia Superficie de Ataque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91840" y="400507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Expuesto a internet, maneja auth, lógica compleja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3566160"/>
            <a:ext cx="2788920" cy="12344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7" name="Shape 35"/>
          <p:cNvSpPr/>
          <p:nvPr/>
        </p:nvSpPr>
        <p:spPr>
          <a:xfrm>
            <a:off x="6126480" y="3566160"/>
            <a:ext cx="278892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36393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🛡️  Primera Línea de Defensa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400507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Bien protegido, es el control más efectivo del sistema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Técnicos del Sistema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58952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960120"/>
            <a:ext cx="64008" cy="1737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960120"/>
            <a:ext cx="2679192" cy="64008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972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Authorization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463040"/>
            <a:ext cx="1280160" cy="256032"/>
          </a:xfrm>
          <a:prstGeom prst="rect">
            <a:avLst/>
          </a:prstGeom>
          <a:solidFill>
            <a:srgbClr val="3B82F6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463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OAuth2 + JWT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tokens, scopes y permisos de acceso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74320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960120"/>
            <a:ext cx="64008" cy="1737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Shape 12"/>
          <p:cNvSpPr/>
          <p:nvPr/>
        </p:nvSpPr>
        <p:spPr>
          <a:xfrm>
            <a:off x="3264408" y="960120"/>
            <a:ext cx="2679192" cy="64008"/>
          </a:xfrm>
          <a:prstGeom prst="rect">
            <a:avLst/>
          </a:prstGeom>
          <a:solidFill>
            <a:srgbClr val="8B5CF6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0972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1463040"/>
            <a:ext cx="1280160" cy="256032"/>
          </a:xfrm>
          <a:prstGeom prst="rect">
            <a:avLst/>
          </a:prstGeom>
          <a:solidFill>
            <a:srgbClr val="8B5CF6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463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Redis-backed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83280" y="18288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req/min por usuario, 5.000 req/hora máximo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960120"/>
            <a:ext cx="274320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6172200" y="960120"/>
            <a:ext cx="64008" cy="1737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6236208" y="960120"/>
            <a:ext cx="2679192" cy="64008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0972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5080" y="1463040"/>
            <a:ext cx="1280160" cy="256032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1463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Istio Policies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55080" y="18288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Previene cascading failures entre microservicios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2926080"/>
            <a:ext cx="274320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Shape 25"/>
          <p:cNvSpPr/>
          <p:nvPr/>
        </p:nvSpPr>
        <p:spPr>
          <a:xfrm>
            <a:off x="228600" y="2926080"/>
            <a:ext cx="64008" cy="1737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292608" y="2926080"/>
            <a:ext cx="2679192" cy="64008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30632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1480" y="3429000"/>
            <a:ext cx="1280160" cy="256032"/>
          </a:xfrm>
          <a:prstGeom prst="rect">
            <a:avLst/>
          </a:prstGeom>
          <a:solidFill>
            <a:srgbClr val="10B981">
              <a:alpha val="5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4290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Istio mTLS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37947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encriptada service-to-service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0" y="2926080"/>
            <a:ext cx="274320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Shape 32"/>
          <p:cNvSpPr/>
          <p:nvPr/>
        </p:nvSpPr>
        <p:spPr>
          <a:xfrm>
            <a:off x="3200400" y="2926080"/>
            <a:ext cx="64008" cy="1737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Shape 33"/>
          <p:cNvSpPr/>
          <p:nvPr/>
        </p:nvSpPr>
        <p:spPr>
          <a:xfrm>
            <a:off x="3264408" y="2926080"/>
            <a:ext cx="2679192" cy="64008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383280" y="30632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Centralizado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83280" y="3429000"/>
            <a:ext cx="1280160" cy="256032"/>
          </a:xfrm>
          <a:prstGeom prst="rect">
            <a:avLst/>
          </a:prstGeom>
          <a:solidFill>
            <a:srgbClr val="EF4444">
              <a:alpha val="5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383280" y="34290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ELK Stack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83280" y="37947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requests trackeados y auditables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72200" y="2926080"/>
            <a:ext cx="274320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Shape 39"/>
          <p:cNvSpPr/>
          <p:nvPr/>
        </p:nvSpPr>
        <p:spPr>
          <a:xfrm>
            <a:off x="6172200" y="2926080"/>
            <a:ext cx="64008" cy="1737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2" name="Shape 40"/>
          <p:cNvSpPr/>
          <p:nvPr/>
        </p:nvSpPr>
        <p:spPr>
          <a:xfrm>
            <a:off x="6236208" y="2926080"/>
            <a:ext cx="2679192" cy="64008"/>
          </a:xfrm>
          <a:prstGeom prst="rect">
            <a:avLst/>
          </a:prstGeom>
          <a:solidFill>
            <a:srgbClr val="0EA5E9">
              <a:alpha val="3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355080" y="30632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55080" y="3429000"/>
            <a:ext cx="1280160" cy="256032"/>
          </a:xfrm>
          <a:prstGeom prst="rect">
            <a:avLst/>
          </a:prstGeom>
          <a:solidFill>
            <a:srgbClr val="0EA5E9">
              <a:alpha val="5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355080" y="34290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RabbitMQ + Redis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55080" y="37947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messaging y caching distribuido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Alcance: Kong/AWS API Gateway  ·  Kubernetes Cluster  ·  3 Microservicios  ·  Istio mTLS  ·  Redis  ·  RabbitMQ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Trust Boundaries: 4 Zonas de Confianza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58952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1965960" cy="3931920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60120"/>
            <a:ext cx="19659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51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TB1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Internet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764792"/>
            <a:ext cx="169164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9842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0% confianza — UNTRUSTED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1600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6888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Clientes Web · APIs de Terceros · Atacantes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40280" y="292608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50592" y="960120"/>
            <a:ext cx="1965960" cy="379476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96012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2450592" y="1051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TB2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450592" y="1371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DMZ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87752" y="1764792"/>
            <a:ext cx="169164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2587752" y="1764792"/>
            <a:ext cx="507492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2450592" y="19842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30% confianza — SEMI-TRUSTED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633472" y="2377440"/>
            <a:ext cx="1600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42032" y="246888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API Gateway (Kong/AWS) · WAF · Redis Cache · OAuth2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16552" y="285750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6864" y="960120"/>
            <a:ext cx="1965960" cy="36576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626864" y="960120"/>
            <a:ext cx="19659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4626864" y="1051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TB3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26864" y="1371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Service Mesh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64024" y="1764792"/>
            <a:ext cx="169164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Shape 27"/>
          <p:cNvSpPr/>
          <p:nvPr/>
        </p:nvSpPr>
        <p:spPr>
          <a:xfrm>
            <a:off x="4764024" y="1764792"/>
            <a:ext cx="1184148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4626864" y="19842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</a:rPr>
              <a:t>70% confianza — TRUSTED INTERNAL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809744" y="2377440"/>
            <a:ext cx="1600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18304" y="246888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Istio mTLS · Microservicios · Circuit Breakers · Policies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592824" y="278892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3136" y="960120"/>
            <a:ext cx="1965960" cy="35204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5" name="Shape 33"/>
          <p:cNvSpPr/>
          <p:nvPr/>
        </p:nvSpPr>
        <p:spPr>
          <a:xfrm>
            <a:off x="6803136" y="960120"/>
            <a:ext cx="19659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6803136" y="1051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</a:rPr>
              <a:t>TB4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03136" y="13716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Data Layer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940296" y="1764792"/>
            <a:ext cx="169164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Shape 37"/>
          <p:cNvSpPr/>
          <p:nvPr/>
        </p:nvSpPr>
        <p:spPr>
          <a:xfrm>
            <a:off x="6940296" y="1764792"/>
            <a:ext cx="1522476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6803136" y="19842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90% confianza — HIGHLY RESTRICTED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986016" y="2377440"/>
            <a:ext cx="1600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94576" y="246888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PostgreSQL · RabbitMQ · Elasticsearch · Encryption at Rest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8BDF8"/>
                </a:solidFill>
              </a:rPr>
              <a:t>⚠  No existe confianza transitiva — cada boundary requiere validación independiente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STRIDE: 27 Amenazas Identificadas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58952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914400"/>
            <a:ext cx="1737360" cy="1280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9601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8BDF8"/>
                </a:solidFill>
              </a:rPr>
              <a:t>27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0" y="1691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AMENAZAS TOTALES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0" y="2286000"/>
            <a:ext cx="804672" cy="6400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0" y="2286000"/>
            <a:ext cx="804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CRÍTICAS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973568" y="2286000"/>
            <a:ext cx="896112" cy="6400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7973568" y="2286000"/>
            <a:ext cx="896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</a:rPr>
              <a:t>16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</a:rPr>
              <a:t>ALTAS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960120"/>
            <a:ext cx="384048" cy="5669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" y="96012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5800" y="9966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Spoofing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1280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JWT falsificado · Session hijacking · mTLS bypass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49240" y="1051560"/>
            <a:ext cx="347472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5349240" y="105156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10528" y="1088136"/>
            <a:ext cx="54864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9" name="Text 17"/>
          <p:cNvSpPr/>
          <p:nvPr/>
        </p:nvSpPr>
        <p:spPr>
          <a:xfrm>
            <a:off x="6510528" y="10881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</a:rPr>
              <a:t>3 ALTAS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28600" y="1636776"/>
            <a:ext cx="384048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" y="1636776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" y="16733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Tampering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195681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Inyección SQL/NoSQL · Manipulación JWT · Config poisoning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1728216"/>
            <a:ext cx="347472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5349240" y="172821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806440" y="1764792"/>
            <a:ext cx="658368" cy="25603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17647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2 CRÍTICAS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510528" y="1764792"/>
            <a:ext cx="54864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9" name="Text 27"/>
          <p:cNvSpPr/>
          <p:nvPr/>
        </p:nvSpPr>
        <p:spPr>
          <a:xfrm>
            <a:off x="6510528" y="17647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</a:rPr>
              <a:t>3 ALTAS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28600" y="2313432"/>
            <a:ext cx="384048" cy="5669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" y="2313432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85800" y="23500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Repudiation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" y="2633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Log tampering · Audit evasion · Trace spoofing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49240" y="2404872"/>
            <a:ext cx="347472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5349240" y="240487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3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510528" y="2441448"/>
            <a:ext cx="54864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7" name="Text 35"/>
          <p:cNvSpPr/>
          <p:nvPr/>
        </p:nvSpPr>
        <p:spPr>
          <a:xfrm>
            <a:off x="6510528" y="24414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</a:rPr>
              <a:t>2 ALTAS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28600" y="2990088"/>
            <a:ext cx="384048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" y="2990088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85800" y="302666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Info Disclosure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" y="33101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Log data leakage · Secret exposure · Error verbosity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349240" y="3081528"/>
            <a:ext cx="347472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Text 41"/>
          <p:cNvSpPr/>
          <p:nvPr/>
        </p:nvSpPr>
        <p:spPr>
          <a:xfrm>
            <a:off x="5349240" y="308152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6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806440" y="3118104"/>
            <a:ext cx="658368" cy="25603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5" name="Text 43"/>
          <p:cNvSpPr/>
          <p:nvPr/>
        </p:nvSpPr>
        <p:spPr>
          <a:xfrm>
            <a:off x="5806440" y="311810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2 CRÍTICAS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510528" y="3118104"/>
            <a:ext cx="54864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7" name="Text 45"/>
          <p:cNvSpPr/>
          <p:nvPr/>
        </p:nvSpPr>
        <p:spPr>
          <a:xfrm>
            <a:off x="6510528" y="31181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</a:rPr>
              <a:t>3 ALTAS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28600" y="3666744"/>
            <a:ext cx="384048" cy="5669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9" name="Text 47"/>
          <p:cNvSpPr/>
          <p:nvPr/>
        </p:nvSpPr>
        <p:spPr>
          <a:xfrm>
            <a:off x="228600" y="3666744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685800" y="37033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Denial of Service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85800" y="398678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DDoS volumétrico · Rate limit bypass · Resource exhaustion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349240" y="3758184"/>
            <a:ext cx="347472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3" name="Text 51"/>
          <p:cNvSpPr/>
          <p:nvPr/>
        </p:nvSpPr>
        <p:spPr>
          <a:xfrm>
            <a:off x="5349240" y="3758184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5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5806440" y="3794760"/>
            <a:ext cx="658368" cy="25603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5" name="Text 53"/>
          <p:cNvSpPr/>
          <p:nvPr/>
        </p:nvSpPr>
        <p:spPr>
          <a:xfrm>
            <a:off x="5806440" y="37947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1 CRÍTICA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510528" y="3794760"/>
            <a:ext cx="54864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7" name="Text 55"/>
          <p:cNvSpPr/>
          <p:nvPr/>
        </p:nvSpPr>
        <p:spPr>
          <a:xfrm>
            <a:off x="6510528" y="37947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</a:rPr>
              <a:t>3 ALTAS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28600" y="4343400"/>
            <a:ext cx="384048" cy="5669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9" name="Text 57"/>
          <p:cNvSpPr/>
          <p:nvPr/>
        </p:nvSpPr>
        <p:spPr>
          <a:xfrm>
            <a:off x="228600" y="434340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85800" y="43799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Elevation of Privilege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85800" y="4663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K8s RBAC bypass · Container escape · K8s Secret extraction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349240" y="4434840"/>
            <a:ext cx="347472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3" name="Text 61"/>
          <p:cNvSpPr/>
          <p:nvPr/>
        </p:nvSpPr>
        <p:spPr>
          <a:xfrm>
            <a:off x="5349240" y="44348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4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806440" y="4471416"/>
            <a:ext cx="658368" cy="25603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65" name="Text 63"/>
          <p:cNvSpPr/>
          <p:nvPr/>
        </p:nvSpPr>
        <p:spPr>
          <a:xfrm>
            <a:off x="5806440" y="447141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1 CRÍTICA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510528" y="4471416"/>
            <a:ext cx="54864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7" name="Text 65"/>
          <p:cNvSpPr/>
          <p:nvPr/>
        </p:nvSpPr>
        <p:spPr>
          <a:xfrm>
            <a:off x="6510528" y="44714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</a:rPr>
              <a:t>2 ALTAS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Top 4 Amenazas Críticas — Metodología DREAD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58952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60120"/>
            <a:ext cx="4206240" cy="1783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960120"/>
            <a:ext cx="420624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3429000" y="1143000"/>
            <a:ext cx="822960" cy="822960"/>
          </a:xfrm>
          <a:prstGeom prst="rect">
            <a:avLst/>
          </a:prstGeom>
          <a:solidFill>
            <a:srgbClr val="DC2626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143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29000" y="1645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/50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0698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TH01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3075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JWT Secret (HS256)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709928"/>
            <a:ext cx="1188720" cy="228600"/>
          </a:xfrm>
          <a:prstGeom prst="rect">
            <a:avLst/>
          </a:prstGeom>
          <a:solidFill>
            <a:srgbClr val="DC2626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7099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Spoofing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" y="2057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total como cualquier usuario del sistema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960120"/>
            <a:ext cx="4206240" cy="1783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4709160" y="960120"/>
            <a:ext cx="420624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Shape 15"/>
          <p:cNvSpPr/>
          <p:nvPr/>
        </p:nvSpPr>
        <p:spPr>
          <a:xfrm>
            <a:off x="7909560" y="1143000"/>
            <a:ext cx="822960" cy="822960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909560" y="1143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909560" y="1645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/50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10698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TH06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13075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SQL/NoSQL Injection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709928"/>
            <a:ext cx="1188720" cy="228600"/>
          </a:xfrm>
          <a:prstGeom prst="rect">
            <a:avLst/>
          </a:prstGeom>
          <a:solidFill>
            <a:srgbClr val="EF4444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7099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Tampering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46320" y="2057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o destrucción de toda la base de datos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2926080"/>
            <a:ext cx="4206240" cy="1783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228600" y="2926080"/>
            <a:ext cx="42062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3429000" y="3108960"/>
            <a:ext cx="822960" cy="82296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31089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40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3429000" y="3611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/50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0358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TH14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32735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in Logs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5760" y="3675888"/>
            <a:ext cx="1188720" cy="228600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6758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Info Disclosure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5760" y="4023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y tokens expuestos en logs sin cifrar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2926080"/>
            <a:ext cx="4206240" cy="1783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Shape 34"/>
          <p:cNvSpPr/>
          <p:nvPr/>
        </p:nvSpPr>
        <p:spPr>
          <a:xfrm>
            <a:off x="4709160" y="2926080"/>
            <a:ext cx="42062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Shape 35"/>
          <p:cNvSpPr/>
          <p:nvPr/>
        </p:nvSpPr>
        <p:spPr>
          <a:xfrm>
            <a:off x="7909560" y="3108960"/>
            <a:ext cx="822960" cy="82296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909560" y="31089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40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7909560" y="3611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/50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30358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TH18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46320" y="32735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/ Rate Limit Bypass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846320" y="3675888"/>
            <a:ext cx="1188720" cy="228600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36758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DoS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46320" y="4023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total del servicio, afecta todos los usuarios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Escala DREAD: D=Damage  R=Reproducibility  E=Exploitability  A=Affected Users  D=Discoverability  |  Máx: 50 pts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MITRE ATT&amp;CK: Kill Chain Completo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58952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960120"/>
            <a:ext cx="2029968" cy="1691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960120"/>
            <a:ext cx="2029968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69848"/>
            <a:ext cx="34747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069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06984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Initial Access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15087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T1190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80136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API Gateway CVE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12848" y="1801368"/>
            <a:ext cx="18288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95728" y="960120"/>
            <a:ext cx="2029968" cy="1691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Shape 12"/>
          <p:cNvSpPr/>
          <p:nvPr/>
        </p:nvSpPr>
        <p:spPr>
          <a:xfrm>
            <a:off x="2395728" y="960120"/>
            <a:ext cx="2029968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5" name="Shape 13"/>
          <p:cNvSpPr/>
          <p:nvPr/>
        </p:nvSpPr>
        <p:spPr>
          <a:xfrm>
            <a:off x="2487168" y="1069848"/>
            <a:ext cx="347472" cy="3474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2487168" y="1069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98648" y="106984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</a:rPr>
              <a:t>Execution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87168" y="15087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T1609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87168" y="180136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exec en container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25696" y="1801368"/>
            <a:ext cx="182880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08576" y="960120"/>
            <a:ext cx="2029968" cy="1691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Shape 20"/>
          <p:cNvSpPr/>
          <p:nvPr/>
        </p:nvSpPr>
        <p:spPr>
          <a:xfrm>
            <a:off x="4608576" y="960120"/>
            <a:ext cx="2029968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Shape 21"/>
          <p:cNvSpPr/>
          <p:nvPr/>
        </p:nvSpPr>
        <p:spPr>
          <a:xfrm>
            <a:off x="4700016" y="1069848"/>
            <a:ext cx="347472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4700016" y="1069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11496" y="106984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Persistence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00016" y="15087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T1525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00016" y="180136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maliciosa en registry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638544" y="1801368"/>
            <a:ext cx="18288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21424" y="960120"/>
            <a:ext cx="2029968" cy="1691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Shape 28"/>
          <p:cNvSpPr/>
          <p:nvPr/>
        </p:nvSpPr>
        <p:spPr>
          <a:xfrm>
            <a:off x="6821424" y="960120"/>
            <a:ext cx="2029968" cy="54864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31" name="Shape 29"/>
          <p:cNvSpPr/>
          <p:nvPr/>
        </p:nvSpPr>
        <p:spPr>
          <a:xfrm>
            <a:off x="6912864" y="1069848"/>
            <a:ext cx="347472" cy="347472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32" name="Text 30"/>
          <p:cNvSpPr/>
          <p:nvPr/>
        </p:nvSpPr>
        <p:spPr>
          <a:xfrm>
            <a:off x="6912864" y="1069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24344" y="106984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8A04"/>
                </a:solidFill>
              </a:rPr>
              <a:t>Priv. Escalation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12864" y="15087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T1611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12864" y="180136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escape (runC CVE)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82880" y="2926080"/>
            <a:ext cx="2029968" cy="1691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" y="2926080"/>
            <a:ext cx="2029968" cy="54864"/>
          </a:xfrm>
          <a:prstGeom prst="rect">
            <a:avLst/>
          </a:prstGeom>
          <a:solidFill>
            <a:srgbClr val="65A30D"/>
          </a:solidFill>
          <a:ln/>
        </p:spPr>
      </p:sp>
      <p:sp>
        <p:nvSpPr>
          <p:cNvPr id="38" name="Shape 36"/>
          <p:cNvSpPr/>
          <p:nvPr/>
        </p:nvSpPr>
        <p:spPr>
          <a:xfrm>
            <a:off x="274320" y="3035808"/>
            <a:ext cx="347472" cy="347472"/>
          </a:xfrm>
          <a:prstGeom prst="rect">
            <a:avLst/>
          </a:prstGeom>
          <a:solidFill>
            <a:srgbClr val="65A30D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85800" y="30358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5A30D"/>
                </a:solidFill>
              </a:rPr>
              <a:t>Credential Access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4320" y="3474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T1552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4320" y="376732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Secrets extraction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212848" y="3767328"/>
            <a:ext cx="182880" cy="0"/>
          </a:xfrm>
          <a:prstGeom prst="line">
            <a:avLst/>
          </a:prstGeom>
          <a:noFill/>
          <a:ln w="19050">
            <a:solidFill>
              <a:srgbClr val="65A30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95728" y="2926080"/>
            <a:ext cx="2029968" cy="1691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5" name="Shape 43"/>
          <p:cNvSpPr/>
          <p:nvPr/>
        </p:nvSpPr>
        <p:spPr>
          <a:xfrm>
            <a:off x="2395728" y="2926080"/>
            <a:ext cx="2029968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6" name="Shape 44"/>
          <p:cNvSpPr/>
          <p:nvPr/>
        </p:nvSpPr>
        <p:spPr>
          <a:xfrm>
            <a:off x="2487168" y="3035808"/>
            <a:ext cx="347472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7" name="Text 45"/>
          <p:cNvSpPr/>
          <p:nvPr/>
        </p:nvSpPr>
        <p:spPr>
          <a:xfrm>
            <a:off x="2487168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2898648" y="30358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Discovery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487168" y="3474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T1613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487168" y="376732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Enumerar pods y servicios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425696" y="3767328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08576" y="2926080"/>
            <a:ext cx="2029968" cy="1691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3" name="Shape 51"/>
          <p:cNvSpPr/>
          <p:nvPr/>
        </p:nvSpPr>
        <p:spPr>
          <a:xfrm>
            <a:off x="4608576" y="2926080"/>
            <a:ext cx="2029968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4" name="Shape 52"/>
          <p:cNvSpPr/>
          <p:nvPr/>
        </p:nvSpPr>
        <p:spPr>
          <a:xfrm>
            <a:off x="4700016" y="3035808"/>
            <a:ext cx="347472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5" name="Text 53"/>
          <p:cNvSpPr/>
          <p:nvPr/>
        </p:nvSpPr>
        <p:spPr>
          <a:xfrm>
            <a:off x="4700016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111496" y="30358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Collection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700016" y="3474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T1005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700016" y="376732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dump (pg_dump)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638544" y="3767328"/>
            <a:ext cx="1828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21424" y="2926080"/>
            <a:ext cx="2029968" cy="1691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1" name="Shape 59"/>
          <p:cNvSpPr/>
          <p:nvPr/>
        </p:nvSpPr>
        <p:spPr>
          <a:xfrm>
            <a:off x="6821424" y="2926080"/>
            <a:ext cx="2029968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2" name="Shape 60"/>
          <p:cNvSpPr/>
          <p:nvPr/>
        </p:nvSpPr>
        <p:spPr>
          <a:xfrm>
            <a:off x="6912864" y="3035808"/>
            <a:ext cx="347472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3" name="Text 61"/>
          <p:cNvSpPr/>
          <p:nvPr/>
        </p:nvSpPr>
        <p:spPr>
          <a:xfrm>
            <a:off x="6912864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7324344" y="30358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Exfiltration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912864" y="3474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T1537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912864" y="376732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a S3 atacante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Plan de Mitigación: Controles P0 (Críticos)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58952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60120"/>
            <a:ext cx="8686800" cy="704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438912" cy="70408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960120"/>
            <a:ext cx="438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P0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7512" y="960120"/>
            <a:ext cx="64008" cy="7040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051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C01: Rate Limiting en 3 Capas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36245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WAF + Kong + Application layer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0" y="1143000"/>
            <a:ext cx="1371600" cy="3200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2" name="Text 10"/>
          <p:cNvSpPr/>
          <p:nvPr/>
        </p:nvSpPr>
        <p:spPr>
          <a:xfrm>
            <a:off x="5989320" y="1143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</a:rPr>
              <a:t>Mitiga: TH18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479792" y="1143000"/>
            <a:ext cx="1188720" cy="320040"/>
          </a:xfrm>
          <a:prstGeom prst="rect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479792" y="1143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Sprint 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1755648"/>
            <a:ext cx="8686800" cy="704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1755648"/>
            <a:ext cx="438912" cy="70408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" y="1755648"/>
            <a:ext cx="438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P0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" y="1755648"/>
            <a:ext cx="64008" cy="7040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18470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C02: JWT Secret Rotation + RS256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15798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Asymmetric keys + rotación 30 días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89320" y="1938528"/>
            <a:ext cx="1371600" cy="3200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19385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</a:rPr>
              <a:t>Mitiga: TH01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479792" y="1938528"/>
            <a:ext cx="1188720" cy="320040"/>
          </a:xfrm>
          <a:prstGeom prst="rect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479792" y="19385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Sprint 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551176"/>
            <a:ext cx="8686800" cy="704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551176"/>
            <a:ext cx="438912" cy="70408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" y="2551176"/>
            <a:ext cx="438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P0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7512" y="2551176"/>
            <a:ext cx="64008" cy="7040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26426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C03: Log Scrubbing + Encryption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295351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Fluentd filters + Elasticsearch TLS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9320" y="2734056"/>
            <a:ext cx="1371600" cy="3200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2" name="Text 30"/>
          <p:cNvSpPr/>
          <p:nvPr/>
        </p:nvSpPr>
        <p:spPr>
          <a:xfrm>
            <a:off x="5989320" y="27340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</a:rPr>
              <a:t>Mitiga: TH14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479792" y="2734056"/>
            <a:ext cx="1188720" cy="320040"/>
          </a:xfrm>
          <a:prstGeom prst="rect">
            <a:avLst/>
          </a:prstGeom>
          <a:solidFill>
            <a:srgbClr val="0891B2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479792" y="27340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Sprint 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" y="3346704"/>
            <a:ext cx="8686800" cy="704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28600" y="3346704"/>
            <a:ext cx="438912" cy="70408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7" name="Text 35"/>
          <p:cNvSpPr/>
          <p:nvPr/>
        </p:nvSpPr>
        <p:spPr>
          <a:xfrm>
            <a:off x="228600" y="3346704"/>
            <a:ext cx="438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P0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67512" y="3346704"/>
            <a:ext cx="64008" cy="7040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343814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C04: External Secrets Operator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22960" y="3749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Vault integration + auto-rotation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89320" y="3529584"/>
            <a:ext cx="1371600" cy="3200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2" name="Text 40"/>
          <p:cNvSpPr/>
          <p:nvPr/>
        </p:nvSpPr>
        <p:spPr>
          <a:xfrm>
            <a:off x="5989320" y="35295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</a:rPr>
              <a:t>Mitiga: TH16, TH01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479792" y="3529584"/>
            <a:ext cx="1188720" cy="320040"/>
          </a:xfrm>
          <a:prstGeom prst="rect">
            <a:avLst/>
          </a:prstGeom>
          <a:solidFill>
            <a:srgbClr val="059669">
              <a:alpha val="8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479792" y="35295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Sprint 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28600" y="4142232"/>
            <a:ext cx="8686800" cy="704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28600" y="4142232"/>
            <a:ext cx="438912" cy="70408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7" name="Text 45"/>
          <p:cNvSpPr/>
          <p:nvPr/>
        </p:nvSpPr>
        <p:spPr>
          <a:xfrm>
            <a:off x="228600" y="4142232"/>
            <a:ext cx="438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P0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7512" y="4142232"/>
            <a:ext cx="64008" cy="70408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822960" y="42336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C05: Input Validation Framework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22960" y="454456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Schema validation + Prepared statements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989320" y="4325112"/>
            <a:ext cx="1371600" cy="3200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2" name="Text 50"/>
          <p:cNvSpPr/>
          <p:nvPr/>
        </p:nvSpPr>
        <p:spPr>
          <a:xfrm>
            <a:off x="5989320" y="43251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</a:rPr>
              <a:t>Mitiga: TH06, TH25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479792" y="4325112"/>
            <a:ext cx="1188720" cy="320040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7479792" y="43251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Sprint 1-2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6" name="Text 54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</a:rPr>
              <a:t>Implementación en 4 semanas · Sprints 1 y 2  ·  Prioridad máxima de ejecución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Controles Alineados a NIST / ISO 27001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758952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60120"/>
            <a:ext cx="8686800" cy="7040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960120"/>
            <a:ext cx="1463040" cy="7040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960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IDENTIFY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13990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NIST ID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28800" y="10972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Management (CMDB)  ·  Risk Assessment (STRIDE/DREAD)  ·  Governance (OPA)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755648"/>
            <a:ext cx="8686800" cy="7040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" y="1755648"/>
            <a:ext cx="1463040" cy="7040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" y="17556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PROTECT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" y="2194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NIST PR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828800" y="18928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(Istio)  ·  JWT Auth  ·  WAF  ·  TLS 1.3 Encryption en tránsito y reposo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551176"/>
            <a:ext cx="8686800" cy="7040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" y="2551176"/>
            <a:ext cx="1463040" cy="7040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" y="255117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DETECT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" y="2990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NIST DE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828800" y="26883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 Runtime Security  ·  ELK SIEM  ·  Kubernetes Audit Logs  ·  Prometheus Alerts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346704"/>
            <a:ext cx="8686800" cy="7040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" y="3346704"/>
            <a:ext cx="1463040" cy="70408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" y="33467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RESPOND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8600" y="378561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NIST RS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828800" y="3483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Runbooks  ·  PagerDuty 24/7  ·  Forensics (90d logs)  ·  Playbooks CSIRT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4142232"/>
            <a:ext cx="8686800" cy="7040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228600" y="4142232"/>
            <a:ext cx="1463040" cy="7040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" y="41422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RECOVER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28600" y="458114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NIST RC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828800" y="427939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Velero Backups  ·  DR Plan (RTO &lt; 4h)  ·  Post-mortems  ·  Business Continuity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Riesgos Residuales Aceptados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58952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Riesgos que persisten aun después de implementar todos los controles propuestos: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325880"/>
            <a:ext cx="868680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325880"/>
            <a:ext cx="64008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41732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R01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en Kubernetes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78308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Mitigación: Patching &lt; 24h, bug bounty program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03520" y="1463040"/>
            <a:ext cx="914400" cy="2286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1463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Prob: Muy Baja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309360" y="1463040"/>
            <a:ext cx="731520" cy="228600"/>
          </a:xfrm>
          <a:prstGeom prst="rect">
            <a:avLst/>
          </a:prstGeom>
          <a:solidFill>
            <a:srgbClr val="DC2626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463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CRÍTICO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132320" y="1463040"/>
            <a:ext cx="1645920" cy="2286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1463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</a:rPr>
              <a:t>MITIGAR + ACEPTAR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28600" y="2221992"/>
            <a:ext cx="868680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228600" y="2221992"/>
            <a:ext cx="6400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31343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R02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23134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 (empleado malicioso)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" y="2679192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Mitigación: Least privilege, audit logs, background checks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03520" y="2359152"/>
            <a:ext cx="914400" cy="2286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2359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Prob: Baja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309360" y="2359152"/>
            <a:ext cx="731520" cy="22860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23591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ALTO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0" y="2359152"/>
            <a:ext cx="1645920" cy="2286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23591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</a:rPr>
              <a:t>MITIGAR + MONITOREAR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28600" y="3118104"/>
            <a:ext cx="868680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Shape 27"/>
          <p:cNvSpPr/>
          <p:nvPr/>
        </p:nvSpPr>
        <p:spPr>
          <a:xfrm>
            <a:off x="228600" y="3118104"/>
            <a:ext cx="6400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" y="320954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R04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320954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Attack (npm/pip/Docker)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84048" y="3575304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Mitigación: SBOM, dependency scanning, private registries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03520" y="3255264"/>
            <a:ext cx="914400" cy="2286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0" y="32552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Prob: Baja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309360" y="3255264"/>
            <a:ext cx="731520" cy="22860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325526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ALTO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132320" y="3255264"/>
            <a:ext cx="1645920" cy="2286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0" y="32552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</a:rPr>
              <a:t>MITIGAR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28600" y="4014216"/>
            <a:ext cx="868680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Shape 38"/>
          <p:cNvSpPr/>
          <p:nvPr/>
        </p:nvSpPr>
        <p:spPr>
          <a:xfrm>
            <a:off x="228600" y="4014216"/>
            <a:ext cx="6400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1" name="Text 39"/>
          <p:cNvSpPr/>
          <p:nvPr/>
        </p:nvSpPr>
        <p:spPr>
          <a:xfrm>
            <a:off x="384048" y="410565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R05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14400" y="410565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Volumétrico Masivo (&gt;100 Gbps)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84048" y="4471416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Mitigación: Cloudflare / AWS Shield, seguro ciberseguridad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303520" y="4151376"/>
            <a:ext cx="914400" cy="2286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Text 43"/>
          <p:cNvSpPr/>
          <p:nvPr/>
        </p:nvSpPr>
        <p:spPr>
          <a:xfrm>
            <a:off x="5303520" y="4151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Prob: Baja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309360" y="4151376"/>
            <a:ext cx="731520" cy="228600"/>
          </a:xfrm>
          <a:prstGeom prst="rect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309360" y="415137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MEDIO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132320" y="4151376"/>
            <a:ext cx="1645920" cy="2286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9" name="Text 47"/>
          <p:cNvSpPr/>
          <p:nvPr/>
        </p:nvSpPr>
        <p:spPr>
          <a:xfrm>
            <a:off x="7132320" y="415137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</a:rPr>
              <a:t>TRANSFERIR + MITIGAR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Conclusiones y Próximos Pasos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58952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60120"/>
            <a:ext cx="20116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960120"/>
            <a:ext cx="201168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05156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8BDF8"/>
                </a:solidFill>
              </a:rPr>
              <a:t>27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28600" y="17190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amenazas identificadas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(4 críticas)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960120"/>
            <a:ext cx="20116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2423160" y="96012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105156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</a:rPr>
              <a:t>15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423160" y="17190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controles de seguridad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propuestos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960120"/>
            <a:ext cx="20116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4617720" y="960120"/>
            <a:ext cx="20116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05156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366F1"/>
                </a:solidFill>
              </a:rPr>
              <a:t>4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617720" y="17190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capas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defensa en profundidad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960120"/>
            <a:ext cx="20116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6812280" y="96012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105156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</a:rPr>
              <a:t>4h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812280" y="17190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RTO objetivo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del plan de recuperación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" y="27432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Análisis exhaustivo STRIDE/DREAD + mapeo MITRE ATT&amp;CK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23160" y="27432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 controles P0 implementables en Sprint 1-2 (4 semanas)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17720" y="27432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WAF → Gateway → Service Mesh → App → Data Layer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12280" y="27432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Velero Backups + DR Plan + Post-mortems continuos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3429000"/>
            <a:ext cx="86868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" y="34290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PRÓXIMOS PASOS INMEDIATOS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3794760"/>
            <a:ext cx="237744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" y="3794760"/>
            <a:ext cx="320040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79476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" y="38404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controles P0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(C01–C05) en Sprint 1-2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29000" y="3794760"/>
            <a:ext cx="237744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Shape 30"/>
          <p:cNvSpPr/>
          <p:nvPr/>
        </p:nvSpPr>
        <p:spPr>
          <a:xfrm>
            <a:off x="3429000" y="3794760"/>
            <a:ext cx="320040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379476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840480" y="38404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 de validación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post-implementación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3794760"/>
            <a:ext cx="237744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Shape 34"/>
          <p:cNvSpPr/>
          <p:nvPr/>
        </p:nvSpPr>
        <p:spPr>
          <a:xfrm>
            <a:off x="6126480" y="3794760"/>
            <a:ext cx="320040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0" y="379476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537960" y="38404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métricas de éxito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MTTD, MTTR, alertas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2331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</a:rPr>
              <a:t>Gracias por su atención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2971800"/>
            <a:ext cx="457200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127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Juan Lamolle  ·  Serafín González  ·  Fernando Rodríguez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Documentación completa: Análisis_Riesgos_API_Gateway_FINAL1.md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4389120"/>
            <a:ext cx="548640" cy="457200"/>
          </a:xfrm>
          <a:prstGeom prst="rect">
            <a:avLst/>
          </a:prstGeom>
          <a:solidFill>
            <a:srgbClr val="1D4ED8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4389120"/>
            <a:ext cx="548640" cy="457200"/>
          </a:xfrm>
          <a:prstGeom prst="rect">
            <a:avLst/>
          </a:prstGeom>
          <a:solidFill>
            <a:srgbClr val="0EA5E9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0" y="4389120"/>
            <a:ext cx="548640" cy="457200"/>
          </a:xfrm>
          <a:prstGeom prst="rect">
            <a:avLst/>
          </a:prstGeom>
          <a:solidFill>
            <a:srgbClr val="1E3A5F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4389120"/>
            <a:ext cx="548640" cy="457200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0" y="4389120"/>
            <a:ext cx="548640" cy="457200"/>
          </a:xfrm>
          <a:prstGeom prst="rect">
            <a:avLst/>
          </a:prstGeom>
          <a:solidFill>
            <a:srgbClr val="1D4ED8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Riesgos API Gateway</dc:title>
  <dc:subject>PptxGenJS Presentation</dc:subject>
  <dc:creator>Juan Lamolle | Serafín González | Fernando Rodríguez</dc:creator>
  <cp:lastModifiedBy>Juan Lamolle | Serafín González | Fernando Rodríguez</cp:lastModifiedBy>
  <cp:revision>1</cp:revision>
  <dcterms:created xsi:type="dcterms:W3CDTF">2026-05-24T20:19:14Z</dcterms:created>
  <dcterms:modified xsi:type="dcterms:W3CDTF">2026-05-24T20:19:14Z</dcterms:modified>
</cp:coreProperties>
</file>